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0" r:id="rId10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635" autoAdjust="0"/>
  </p:normalViewPr>
  <p:slideViewPr>
    <p:cSldViewPr snapToGrid="0">
      <p:cViewPr varScale="1">
        <p:scale>
          <a:sx n="115" d="100"/>
          <a:sy n="115" d="100"/>
        </p:scale>
        <p:origin x="10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1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3367168-A7C3-4A51-ACFE-4D76B720982F}" type="datetime1">
              <a:rPr lang="fr-FR" smtClean="0"/>
              <a:t>16/12/2025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B4F1169-1988-463B-A52C-EF5C9A50040C}" type="datetime1">
              <a:rPr lang="fr-FR" noProof="0" smtClean="0"/>
              <a:t>16/12/2025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fr-FR" noProof="0" smtClean="0"/>
              <a:t>‹#›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US" noProof="0"/>
              <a:t>Click to edit Master subtitle style</a:t>
            </a:r>
            <a:endParaRPr lang="fr-FR" noProof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F3B20A7-A3FE-46B9-84EA-B4257BA7E60C}" type="datetime1">
              <a:rPr lang="fr-FR" noProof="0" smtClean="0"/>
              <a:t>16/12/2025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fr-FR" noProof="0" smtClean="0"/>
              <a:pPr rtl="0"/>
              <a:t>‹#›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9B34D2F-0B02-482E-ABD2-95D8C2FF2A58}" type="datetime1">
              <a:rPr lang="fr-FR" noProof="0" smtClean="0"/>
              <a:t>16/12/2025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‹#›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26ECFBB-4871-428F-B4AE-1EF357E63674}" type="datetime1">
              <a:rPr lang="fr-FR" noProof="0" smtClean="0"/>
              <a:t>16/12/2025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fr-FR" noProof="0" smtClean="0"/>
              <a:pPr rtl="0"/>
              <a:t>‹#›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517F14-0D9C-452E-A596-36902551AE9C}" type="datetime1">
              <a:rPr lang="fr-FR" noProof="0" smtClean="0"/>
              <a:t>16/12/2025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‹#›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A9BF800-A62B-4735-B9A7-5450007C0A78}" type="datetime1">
              <a:rPr lang="fr-FR" noProof="0" smtClean="0"/>
              <a:t>16/12/2025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‹#›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47267E0-A979-4430-94B4-54611641D8EE}" type="datetime1">
              <a:rPr lang="fr-FR" noProof="0" smtClean="0"/>
              <a:t>16/12/2025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‹#›</a:t>
            </a:fld>
            <a:endParaRPr lang="fr-FR" noProof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58A73B6-B077-488D-82CF-3056D5BAC73E}" type="datetime1">
              <a:rPr lang="fr-FR" noProof="0" smtClean="0"/>
              <a:t>16/12/2025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‹#›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8F108A3-3495-404B-9869-1BA62DF0E465}" type="datetime1">
              <a:rPr lang="fr-FR" noProof="0" smtClean="0"/>
              <a:t>16/12/2025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fr-FR" noProof="0" smtClean="0"/>
              <a:pPr rtl="0"/>
              <a:t>‹#›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B550F6-4238-41AE-B6F4-4D375745C983}" type="datetime1">
              <a:rPr lang="fr-FR" noProof="0" smtClean="0"/>
              <a:t>16/12/2025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‹#›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Titr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5E3FBB-57D2-4FB3-B51E-0FDE8CEE6791}" type="datetime1">
              <a:rPr lang="fr-FR" noProof="0" smtClean="0"/>
              <a:t>16/12/2025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‹#›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BE9F9435-70D7-42BA-8564-5EC34B97B69E}" type="datetime1">
              <a:rPr lang="fr-FR" noProof="0" smtClean="0"/>
              <a:t>16/12/2025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fr-FR" noProof="0" smtClean="0"/>
              <a:pPr rtl="0"/>
              <a:t>‹#›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BBB97F02-5EDD-4BF6-BE41-AB41D1FEABF8}" type="datetime1">
              <a:rPr lang="fr-FR" noProof="0" smtClean="0"/>
              <a:t>16/12/2025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fr-FR" noProof="0" smtClean="0"/>
              <a:pPr rtl="0"/>
              <a:t>‹#›</a:t>
            </a:fld>
            <a:endParaRPr lang="fr-FR" noProof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1" name="Rectangle 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 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pic>
        <p:nvPicPr>
          <p:cNvPr id="7" name="Image 6" descr="Connexions numérique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3053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en-US" sz="3950" noProof="0" dirty="0">
                <a:solidFill>
                  <a:schemeClr val="bg1"/>
                </a:solidFill>
              </a:rPr>
              <a:t>HEALTHCARE TREATMENT RECOMMENDATION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162443"/>
            <a:ext cx="10993546" cy="1312787"/>
          </a:xfrm>
        </p:spPr>
        <p:txBody>
          <a:bodyPr rtlCol="0">
            <a:normAutofit fontScale="77500" lnSpcReduction="20000"/>
          </a:bodyPr>
          <a:lstStyle/>
          <a:p>
            <a:pPr rtl="0"/>
            <a:r>
              <a:rPr lang="en-US" noProof="0" dirty="0">
                <a:solidFill>
                  <a:srgbClr val="7CEBFF"/>
                </a:solidFill>
              </a:rPr>
              <a:t>An Expert System using First-Order Logic and IDP</a:t>
            </a:r>
          </a:p>
          <a:p>
            <a:pPr rtl="0"/>
            <a:r>
              <a:rPr lang="en-US" noProof="0" dirty="0">
                <a:solidFill>
                  <a:srgbClr val="7CEBFF"/>
                </a:solidFill>
              </a:rPr>
              <a:t>Prepared by: Fabio Dollaku, Bacem </a:t>
            </a:r>
            <a:r>
              <a:rPr lang="en-US" noProof="0" dirty="0" err="1">
                <a:solidFill>
                  <a:srgbClr val="7CEBFF"/>
                </a:solidFill>
              </a:rPr>
              <a:t>EtteiB</a:t>
            </a:r>
            <a:r>
              <a:rPr lang="en-US" noProof="0" dirty="0">
                <a:solidFill>
                  <a:srgbClr val="7CEBFF"/>
                </a:solidFill>
              </a:rPr>
              <a:t>, Yehor smyrnov</a:t>
            </a:r>
          </a:p>
          <a:p>
            <a:pPr algn="r" rtl="0"/>
            <a:r>
              <a:rPr lang="en-US" noProof="0" dirty="0">
                <a:solidFill>
                  <a:srgbClr val="7CEBFF"/>
                </a:solidFill>
              </a:rPr>
              <a:t>Course: Intelligent Systems – Agents and Reasoning</a:t>
            </a:r>
          </a:p>
          <a:p>
            <a:pPr algn="r" rtl="0"/>
            <a:r>
              <a:rPr lang="en-US" noProof="0" dirty="0">
                <a:solidFill>
                  <a:srgbClr val="7CEBFF"/>
                </a:solidFill>
              </a:rPr>
              <a:t>University of Luxembourg</a:t>
            </a:r>
          </a:p>
          <a:p>
            <a:pPr algn="r" rtl="0"/>
            <a:r>
              <a:rPr lang="en-US" noProof="0" dirty="0">
                <a:solidFill>
                  <a:srgbClr val="7CEBFF"/>
                </a:solidFill>
              </a:rPr>
              <a:t>December 2025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A40B3-D36C-629E-988A-94061EF30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120C4-C297-2B3B-5E63-ED482AE61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0">
              <a:buNone/>
            </a:pPr>
            <a:r>
              <a:rPr lang="en-US" noProof="0" dirty="0"/>
              <a:t>We need to decide which </a:t>
            </a:r>
            <a:r>
              <a:rPr lang="en-US" b="1" noProof="0" dirty="0"/>
              <a:t>treatments</a:t>
            </a:r>
            <a:r>
              <a:rPr lang="en-US" noProof="0" dirty="0"/>
              <a:t> a patient should </a:t>
            </a:r>
            <a:r>
              <a:rPr lang="en-US" b="1" noProof="0" dirty="0"/>
              <a:t>receive</a:t>
            </a:r>
            <a:r>
              <a:rPr lang="en-US" noProof="0" dirty="0"/>
              <a:t>.</a:t>
            </a:r>
          </a:p>
          <a:p>
            <a:pPr marL="285750" indent="0">
              <a:buNone/>
            </a:pPr>
            <a:r>
              <a:rPr lang="en-US" noProof="0" dirty="0"/>
              <a:t>Multiple constraints must be satisfied:</a:t>
            </a:r>
          </a:p>
          <a:p>
            <a:pPr lvl="1"/>
            <a:r>
              <a:rPr lang="en-US" noProof="0" dirty="0"/>
              <a:t>Every disease must be treated</a:t>
            </a:r>
          </a:p>
          <a:p>
            <a:pPr lvl="1"/>
            <a:r>
              <a:rPr lang="en-US" noProof="0" dirty="0"/>
              <a:t>Allergies must be respected</a:t>
            </a:r>
          </a:p>
          <a:p>
            <a:pPr lvl="1"/>
            <a:r>
              <a:rPr lang="en-US" noProof="0" dirty="0"/>
              <a:t>Drug incompatibilities must be avoided</a:t>
            </a:r>
          </a:p>
          <a:p>
            <a:pPr lvl="1"/>
            <a:r>
              <a:rPr lang="en-US" noProof="0" dirty="0"/>
              <a:t>Age and risk factors matter</a:t>
            </a:r>
          </a:p>
          <a:p>
            <a:r>
              <a:rPr lang="en-US" noProof="0" dirty="0"/>
              <a:t>Traditional programming: hard to maintain and explain</a:t>
            </a:r>
          </a:p>
          <a:p>
            <a:r>
              <a:rPr lang="en-US" noProof="0" dirty="0"/>
              <a:t>Solution: use Logic-Based Expert System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54589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80A1A-CE4B-46BF-E84B-79B21404C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Our Approach – Domain and 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4E1CC-C773-8AE2-815A-C859F90CD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09775"/>
            <a:ext cx="11029615" cy="45815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noProof="0" dirty="0"/>
              <a:t>What do we model?</a:t>
            </a:r>
          </a:p>
          <a:p>
            <a:r>
              <a:rPr lang="en-US" sz="2000" noProof="0" dirty="0"/>
              <a:t>Types: </a:t>
            </a:r>
          </a:p>
          <a:p>
            <a:pPr lvl="1"/>
            <a:r>
              <a:rPr lang="en-US" sz="1800" noProof="0" dirty="0"/>
              <a:t>Patient, Disease, Symptom, Treatment</a:t>
            </a:r>
          </a:p>
          <a:p>
            <a:r>
              <a:rPr lang="en-US" sz="2000" noProof="0" dirty="0"/>
              <a:t>Key Predicates:</a:t>
            </a:r>
          </a:p>
          <a:p>
            <a:pPr lvl="1"/>
            <a:r>
              <a:rPr lang="en-US" sz="1800" noProof="0" dirty="0"/>
              <a:t>HasDisease(p, d) – which patient has which disease</a:t>
            </a:r>
          </a:p>
          <a:p>
            <a:pPr lvl="1"/>
            <a:r>
              <a:rPr lang="en-US" sz="1800" noProof="0" dirty="0"/>
              <a:t>Treats(t, d) – which treatment works for which disease</a:t>
            </a:r>
          </a:p>
          <a:p>
            <a:pPr lvl="1"/>
            <a:r>
              <a:rPr lang="en-US" sz="1800" noProof="0" dirty="0"/>
              <a:t>Allergic(p, t) – patient allergies</a:t>
            </a:r>
          </a:p>
          <a:p>
            <a:pPr lvl="1"/>
            <a:r>
              <a:rPr lang="en-US" sz="1800" noProof="0" dirty="0"/>
              <a:t>Incompatible(t1, t2) – drug interactions</a:t>
            </a:r>
          </a:p>
          <a:p>
            <a:pPr lvl="1"/>
            <a:r>
              <a:rPr lang="en-US" sz="1800" noProof="0" dirty="0"/>
              <a:t>HighRisk(p), Age(p) – patient properties</a:t>
            </a:r>
          </a:p>
          <a:p>
            <a:r>
              <a:rPr lang="en-US" sz="2000" noProof="0" dirty="0"/>
              <a:t>Output:</a:t>
            </a:r>
          </a:p>
          <a:p>
            <a:pPr lvl="1"/>
            <a:r>
              <a:rPr lang="en-US" sz="1800" noProof="0" dirty="0"/>
              <a:t>Recommended(p, t) – the decision: which treatment for which patient</a:t>
            </a:r>
          </a:p>
        </p:txBody>
      </p:sp>
    </p:spTree>
    <p:extLst>
      <p:ext uri="{BB962C8B-B14F-4D97-AF65-F5344CB8AC3E}">
        <p14:creationId xmlns:p14="http://schemas.microsoft.com/office/powerpoint/2010/main" val="178891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FAD6F-0D8F-F3B1-7837-D44B29F04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Core Constraints (FOL)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35A95-0A30-30C7-C34C-5C79E3AB5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363179"/>
          </a:xfrm>
        </p:spPr>
        <p:txBody>
          <a:bodyPr>
            <a:normAutofit/>
          </a:bodyPr>
          <a:lstStyle/>
          <a:p>
            <a:r>
              <a:rPr lang="en-US" sz="2400" noProof="0" dirty="0"/>
              <a:t>Basic Rules We Enforce:</a:t>
            </a:r>
          </a:p>
          <a:p>
            <a:pPr lvl="1"/>
            <a:r>
              <a:rPr lang="en-US" sz="2000" noProof="0" dirty="0"/>
              <a:t>Every disease is treated</a:t>
            </a:r>
          </a:p>
          <a:p>
            <a:pPr lvl="2"/>
            <a:r>
              <a:rPr lang="en-US" sz="1800" noProof="0" dirty="0"/>
              <a:t>∀p ∀d (HasDisease(p, d) → ∃t (Treats(t, d) ∧ Recommended(p, t)))</a:t>
            </a:r>
          </a:p>
          <a:p>
            <a:pPr lvl="1"/>
            <a:r>
              <a:rPr lang="en-US" sz="2000" noProof="0" dirty="0"/>
              <a:t>No incompatible pairs</a:t>
            </a:r>
          </a:p>
          <a:p>
            <a:pPr lvl="2"/>
            <a:r>
              <a:rPr lang="en-US" sz="1800" noProof="0" dirty="0"/>
              <a:t>∀p ∀t1 ∀t2 (Recommended(p, t1) ∧ Incompatible(t1, t2) → ¬Recommended(p, t2))</a:t>
            </a:r>
          </a:p>
          <a:p>
            <a:pPr lvl="1"/>
            <a:r>
              <a:rPr lang="en-US" sz="2000" noProof="0" dirty="0"/>
              <a:t>Respect allergies</a:t>
            </a:r>
          </a:p>
          <a:p>
            <a:pPr lvl="2"/>
            <a:r>
              <a:rPr lang="en-US" sz="1800" noProof="0" dirty="0"/>
              <a:t>∀p ∀t (Recommended(p, t) → ¬Contraindicated(p, t))</a:t>
            </a:r>
          </a:p>
          <a:p>
            <a:endParaRPr lang="en-US" sz="2400" noProof="0" dirty="0"/>
          </a:p>
        </p:txBody>
      </p:sp>
    </p:spTree>
    <p:extLst>
      <p:ext uri="{BB962C8B-B14F-4D97-AF65-F5344CB8AC3E}">
        <p14:creationId xmlns:p14="http://schemas.microsoft.com/office/powerpoint/2010/main" val="2698493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01FF7-0242-D63F-DCBD-02B9F89D6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Extended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F4E68-B45C-BD75-CD5E-02FC3B39C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noProof="0" dirty="0"/>
              <a:t>Making the System More Realistic:</a:t>
            </a:r>
          </a:p>
          <a:p>
            <a:pPr lvl="1"/>
            <a:r>
              <a:rPr lang="en-US" sz="2000" noProof="0" dirty="0"/>
              <a:t>High-risk patients: treatments must address their symptoms</a:t>
            </a:r>
          </a:p>
          <a:p>
            <a:pPr lvl="1"/>
            <a:r>
              <a:rPr lang="en-US" sz="2000" noProof="0" dirty="0"/>
              <a:t>Elderly (&gt;75): no ibuprofen</a:t>
            </a:r>
          </a:p>
          <a:p>
            <a:pPr lvl="1"/>
            <a:r>
              <a:rPr lang="en-US" sz="2000" noProof="0" dirty="0"/>
              <a:t>Elderly (&gt;70): at most 2 treatments</a:t>
            </a:r>
          </a:p>
          <a:p>
            <a:pPr lvl="1"/>
            <a:r>
              <a:rPr lang="en-US" sz="2000" noProof="0" dirty="0"/>
              <a:t>Hypertension: must get amlodipine</a:t>
            </a:r>
          </a:p>
          <a:p>
            <a:pPr lvl="1"/>
            <a:r>
              <a:rPr lang="en-US" sz="2000" noProof="0" dirty="0"/>
              <a:t>Asthma or pneumonia: must get bronchodilator</a:t>
            </a:r>
          </a:p>
          <a:p>
            <a:pPr lvl="1"/>
            <a:r>
              <a:rPr lang="en-US" sz="2000" noProof="0" dirty="0"/>
              <a:t>Antibiotic stewardship: low-risk flu → no antibiotics</a:t>
            </a:r>
          </a:p>
          <a:p>
            <a:r>
              <a:rPr lang="en-US" sz="2400" noProof="0" dirty="0"/>
              <a:t>Total: 16 constraints (10 base + 6 extensions)</a:t>
            </a:r>
          </a:p>
        </p:txBody>
      </p:sp>
    </p:spTree>
    <p:extLst>
      <p:ext uri="{BB962C8B-B14F-4D97-AF65-F5344CB8AC3E}">
        <p14:creationId xmlns:p14="http://schemas.microsoft.com/office/powerpoint/2010/main" val="2088816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C2B98-E9B2-B8D2-C80E-2713FBE2B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IDP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461CE-5F33-6349-29B1-BE1732408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94746"/>
            <a:ext cx="11029615" cy="4563204"/>
          </a:xfrm>
        </p:spPr>
        <p:txBody>
          <a:bodyPr>
            <a:normAutofit/>
          </a:bodyPr>
          <a:lstStyle/>
          <a:p>
            <a:r>
              <a:rPr lang="en-US" sz="2400" noProof="0" dirty="0"/>
              <a:t>How We Built It:</a:t>
            </a:r>
          </a:p>
          <a:p>
            <a:pPr lvl="1"/>
            <a:r>
              <a:rPr lang="en-US" sz="2000" noProof="0" dirty="0"/>
              <a:t>Define vocabulary with types and predicates (IDP syntax)</a:t>
            </a:r>
          </a:p>
          <a:p>
            <a:pPr lvl="1"/>
            <a:r>
              <a:rPr lang="en-US" sz="2000" noProof="0" dirty="0"/>
              <a:t>Create structure with example patients and facts</a:t>
            </a:r>
          </a:p>
          <a:p>
            <a:pPr lvl="1"/>
            <a:r>
              <a:rPr lang="en-US" sz="2000" noProof="0" dirty="0"/>
              <a:t>Write theory with definitions and constraints</a:t>
            </a:r>
          </a:p>
          <a:p>
            <a:pPr lvl="1"/>
            <a:r>
              <a:rPr lang="en-US" sz="2000" noProof="0" dirty="0"/>
              <a:t>Run allmodels(T, S) to find all valid treatment plans</a:t>
            </a:r>
          </a:p>
          <a:p>
            <a:r>
              <a:rPr lang="en-US" sz="2400" noProof="0" dirty="0"/>
              <a:t>Example patients:</a:t>
            </a:r>
          </a:p>
          <a:p>
            <a:pPr lvl="1"/>
            <a:r>
              <a:rPr lang="en-US" sz="2000" noProof="0" dirty="0"/>
              <a:t>Alice (35, flu) → paracetamol</a:t>
            </a:r>
          </a:p>
          <a:p>
            <a:pPr lvl="1"/>
            <a:r>
              <a:rPr lang="en-US" sz="2000" noProof="0" dirty="0"/>
              <a:t>Bob (72, pneumonia) → antibiotics + bronchodilator</a:t>
            </a:r>
          </a:p>
          <a:p>
            <a:pPr lvl="1"/>
            <a:r>
              <a:rPr lang="en-US" sz="2000" noProof="0" dirty="0"/>
              <a:t>Charlie (28, asthma) → bronchodilator</a:t>
            </a:r>
          </a:p>
          <a:p>
            <a:pPr lvl="1"/>
            <a:r>
              <a:rPr lang="en-US" sz="2000" noProof="0" dirty="0"/>
              <a:t>Diana (80, high-risk, hypertension + flu) → amlodipine + targeted treatments</a:t>
            </a:r>
          </a:p>
        </p:txBody>
      </p:sp>
    </p:spTree>
    <p:extLst>
      <p:ext uri="{BB962C8B-B14F-4D97-AF65-F5344CB8AC3E}">
        <p14:creationId xmlns:p14="http://schemas.microsoft.com/office/powerpoint/2010/main" val="1856096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FD838-D068-E139-8978-EA1C98F2E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Results and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08BBF-50D9-DB98-77C3-6A3502FA5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636297"/>
            <a:ext cx="11029615" cy="2964581"/>
          </a:xfrm>
        </p:spPr>
        <p:txBody>
          <a:bodyPr>
            <a:normAutofit/>
          </a:bodyPr>
          <a:lstStyle/>
          <a:p>
            <a:r>
              <a:rPr lang="en-US" sz="1600" noProof="0" dirty="0"/>
              <a:t>IDP found exactly one valid model – all our constraints are consistent and there is a unique optimal treatment plan.</a:t>
            </a:r>
          </a:p>
          <a:p>
            <a:r>
              <a:rPr lang="en-US" sz="1600" noProof="0" dirty="0"/>
              <a:t>The Recommended predicate shows which treatments each patient receives:</a:t>
            </a:r>
          </a:p>
          <a:p>
            <a:pPr lvl="1"/>
            <a:r>
              <a:rPr lang="en-US" sz="1200" dirty="0"/>
              <a:t>A</a:t>
            </a:r>
            <a:r>
              <a:rPr lang="en-US" sz="1200" noProof="0" dirty="0"/>
              <a:t>lice: paracetamol</a:t>
            </a:r>
          </a:p>
          <a:p>
            <a:pPr lvl="1"/>
            <a:r>
              <a:rPr lang="en-US" sz="1200" dirty="0"/>
              <a:t>B</a:t>
            </a:r>
            <a:r>
              <a:rPr lang="en-US" sz="1200" noProof="0" dirty="0" err="1"/>
              <a:t>ob</a:t>
            </a:r>
            <a:r>
              <a:rPr lang="en-US" sz="1200" noProof="0" dirty="0"/>
              <a:t>: bronchodilator</a:t>
            </a:r>
          </a:p>
          <a:p>
            <a:pPr lvl="1"/>
            <a:r>
              <a:rPr lang="en-US" sz="1200" dirty="0"/>
              <a:t>C</a:t>
            </a:r>
            <a:r>
              <a:rPr lang="en-US" sz="1200" noProof="0" dirty="0" err="1"/>
              <a:t>harlie</a:t>
            </a:r>
            <a:r>
              <a:rPr lang="en-US" sz="1200" noProof="0" dirty="0"/>
              <a:t>: bronchodilator</a:t>
            </a:r>
          </a:p>
          <a:p>
            <a:pPr lvl="1"/>
            <a:r>
              <a:rPr lang="en-US" sz="1200" dirty="0"/>
              <a:t>D</a:t>
            </a:r>
            <a:r>
              <a:rPr lang="en-US" sz="1200" noProof="0" dirty="0" err="1"/>
              <a:t>iana</a:t>
            </a:r>
            <a:r>
              <a:rPr lang="en-US" sz="1200" noProof="0" dirty="0"/>
              <a:t>: amlodipine, paracetamol</a:t>
            </a:r>
          </a:p>
          <a:p>
            <a:r>
              <a:rPr lang="en-US" sz="1600" noProof="0" dirty="0"/>
              <a:t>All decisions are explainable by the FOL rules.</a:t>
            </a:r>
          </a:p>
          <a:p>
            <a:endParaRPr lang="en-US" sz="1600" noProof="0" dirty="0"/>
          </a:p>
        </p:txBody>
      </p:sp>
      <p:pic>
        <p:nvPicPr>
          <p:cNvPr id="5" name="Picture 4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39FA4F8B-4DD8-FFCD-A134-E32C60EEA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81112"/>
            <a:ext cx="7632834" cy="2777124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B7A2AF-1DD6-F075-5918-6E7F4F3A7F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68708"/>
              </p:ext>
            </p:extLst>
          </p:nvPr>
        </p:nvGraphicFramePr>
        <p:xfrm>
          <a:off x="7632834" y="3276193"/>
          <a:ext cx="4559168" cy="3591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9792">
                  <a:extLst>
                    <a:ext uri="{9D8B030D-6E8A-4147-A177-3AD203B41FA5}">
                      <a16:colId xmlns:a16="http://schemas.microsoft.com/office/drawing/2014/main" val="548757900"/>
                    </a:ext>
                  </a:extLst>
                </a:gridCol>
                <a:gridCol w="1139792">
                  <a:extLst>
                    <a:ext uri="{9D8B030D-6E8A-4147-A177-3AD203B41FA5}">
                      <a16:colId xmlns:a16="http://schemas.microsoft.com/office/drawing/2014/main" val="1361958608"/>
                    </a:ext>
                  </a:extLst>
                </a:gridCol>
                <a:gridCol w="1139792">
                  <a:extLst>
                    <a:ext uri="{9D8B030D-6E8A-4147-A177-3AD203B41FA5}">
                      <a16:colId xmlns:a16="http://schemas.microsoft.com/office/drawing/2014/main" val="830254379"/>
                    </a:ext>
                  </a:extLst>
                </a:gridCol>
                <a:gridCol w="1139792">
                  <a:extLst>
                    <a:ext uri="{9D8B030D-6E8A-4147-A177-3AD203B41FA5}">
                      <a16:colId xmlns:a16="http://schemas.microsoft.com/office/drawing/2014/main" val="3686477710"/>
                    </a:ext>
                  </a:extLst>
                </a:gridCol>
              </a:tblGrid>
              <a:tr h="48247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Alice (35, flu)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Bob (72, pneumonia)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Charlie (28, asthma)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Diana (high-risk, elderly)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827421"/>
                  </a:ext>
                </a:extLst>
              </a:tr>
              <a:tr h="8821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✓ Gets paracetamol (treats flu and fever)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✓ Gets bronchodilator (treats pneumonia and dyspnea)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✓ Gets bronchodilator (treats asthma, required by constraint 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noProof="0" dirty="0"/>
                        <a:t>✓ Gets amlodipine (for hypertension – required)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noProof="0" dirty="0"/>
                        <a:t>✓ Gets paracetamol (treats flu and fever)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493362"/>
                  </a:ext>
                </a:extLst>
              </a:tr>
              <a:tr h="83693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✗ Does not get ibuprofen (would violate incompatibility with paracetamol)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✗ Does not get antibiotics (selective antibiotic use policy for low-risk patients)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noProof="0" dirty="0"/>
                        <a:t>✗ No ibuprofen (elderly &gt; 75)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noProof="0" dirty="0"/>
                        <a:t>✗ No unnecessary antibiotics (targeted use policy)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615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6322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E900C-CC14-EE4C-D0F1-F3897F0D9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C4AC1-0C01-9068-79B6-0D7EA84FE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25054"/>
            <a:ext cx="11029615" cy="4774130"/>
          </a:xfrm>
        </p:spPr>
        <p:txBody>
          <a:bodyPr>
            <a:normAutofit lnSpcReduction="10000"/>
          </a:bodyPr>
          <a:lstStyle/>
          <a:p>
            <a:r>
              <a:rPr lang="en-US" sz="2400" noProof="0" dirty="0"/>
              <a:t>What We Learned:</a:t>
            </a:r>
          </a:p>
          <a:p>
            <a:pPr marL="0" indent="0">
              <a:buNone/>
            </a:pPr>
            <a:r>
              <a:rPr lang="en-US" sz="2400" noProof="0" dirty="0"/>
              <a:t>	✓ Natural language rules can be precisely formalized in FOL</a:t>
            </a:r>
          </a:p>
          <a:p>
            <a:pPr marL="0" indent="0">
              <a:buNone/>
            </a:pPr>
            <a:r>
              <a:rPr lang="en-US" sz="2400" noProof="0" dirty="0"/>
              <a:t>	✓ IDP can automatically reason about complex constraints</a:t>
            </a:r>
          </a:p>
          <a:p>
            <a:pPr marL="0" indent="0">
              <a:buNone/>
            </a:pPr>
            <a:r>
              <a:rPr lang="en-US" sz="2400" noProof="0" dirty="0"/>
              <a:t>	✓ Logic-based systems are transparent and maintainable</a:t>
            </a:r>
          </a:p>
          <a:p>
            <a:pPr marL="0" indent="0">
              <a:buNone/>
            </a:pPr>
            <a:r>
              <a:rPr lang="en-US" sz="2400" noProof="0" dirty="0"/>
              <a:t>	✓ If medical guidelines change, we just update the constraints</a:t>
            </a:r>
          </a:p>
          <a:p>
            <a:pPr marL="0" indent="0">
              <a:buNone/>
            </a:pPr>
            <a:endParaRPr lang="en-US" sz="2400" noProof="0" dirty="0"/>
          </a:p>
          <a:p>
            <a:r>
              <a:rPr lang="en-US" sz="2400" noProof="0" dirty="0"/>
              <a:t>Next Steps:</a:t>
            </a:r>
          </a:p>
          <a:p>
            <a:pPr lvl="1"/>
            <a:r>
              <a:rPr lang="en-US" sz="2000" noProof="0" dirty="0"/>
              <a:t>Add more diseases/treatments (scalable approach)</a:t>
            </a:r>
          </a:p>
          <a:p>
            <a:pPr lvl="1"/>
            <a:r>
              <a:rPr lang="en-US" sz="2000" noProof="0" dirty="0"/>
              <a:t>Incorporate patient preferences or cost constraints</a:t>
            </a:r>
          </a:p>
          <a:p>
            <a:pPr lvl="1"/>
            <a:r>
              <a:rPr lang="en-US" sz="2000" noProof="0" dirty="0"/>
              <a:t>Deploy as part of clinical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3641716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 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6" name="Rectangle 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540044"/>
            <a:ext cx="3081576" cy="1067681"/>
          </a:xfrm>
        </p:spPr>
        <p:txBody>
          <a:bodyPr rtlCol="0">
            <a:normAutofit/>
          </a:bodyPr>
          <a:lstStyle/>
          <a:p>
            <a:pPr rtl="0"/>
            <a:r>
              <a:rPr lang="en-US" noProof="0" dirty="0">
                <a:solidFill>
                  <a:srgbClr val="FFFFFF"/>
                </a:solidFill>
              </a:rPr>
              <a:t>Thank you!</a:t>
            </a:r>
          </a:p>
        </p:txBody>
      </p:sp>
      <p:pic>
        <p:nvPicPr>
          <p:cNvPr id="5" name="Image 4" descr="Valeurs numérique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pic>
        <p:nvPicPr>
          <p:cNvPr id="11" name="Picture 10" descr="A logo with white text&#10;&#10;AI-generated content may be incorrect.">
            <a:extLst>
              <a:ext uri="{FF2B5EF4-FFF2-40B4-BE49-F238E27FC236}">
                <a16:creationId xmlns:a16="http://schemas.microsoft.com/office/drawing/2014/main" id="{ADDAFDD6-2823-5BEF-5501-DBD57CCE8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8882" y="3546755"/>
            <a:ext cx="2234667" cy="1892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8800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Conception technique</Template>
  <TotalTime>43</TotalTime>
  <Words>670</Words>
  <Application>Microsoft Macintosh PowerPoint</Application>
  <PresentationFormat>Widescreen</PresentationFormat>
  <Paragraphs>90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Gill Sans MT</vt:lpstr>
      <vt:lpstr>Wingdings 2</vt:lpstr>
      <vt:lpstr>Personnalisé</vt:lpstr>
      <vt:lpstr>HEALTHCARE TREATMENT RECOMMENDATION</vt:lpstr>
      <vt:lpstr>Problem Statement</vt:lpstr>
      <vt:lpstr>Our Approach – Domain and Vocabulary</vt:lpstr>
      <vt:lpstr>Core Constraints (FOL)</vt:lpstr>
      <vt:lpstr>Extended Constraints</vt:lpstr>
      <vt:lpstr>IDP Implementation</vt:lpstr>
      <vt:lpstr>Results and Interpretation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DOLLAKU Fabio</dc:creator>
  <cp:lastModifiedBy>ETTEIB Bacem</cp:lastModifiedBy>
  <cp:revision>2</cp:revision>
  <dcterms:created xsi:type="dcterms:W3CDTF">2025-12-09T16:28:07Z</dcterms:created>
  <dcterms:modified xsi:type="dcterms:W3CDTF">2025-12-16T18:04:28Z</dcterms:modified>
</cp:coreProperties>
</file>